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7d8c982e4fc37a21_1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7d8c982e4fc37a2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7d8c982e4fc37a21_1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7d8c982e4fc37a2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7d8c982e4fc37a21_1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7d8c982e4fc37a21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175d9d27ac6db241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175d9d27ac6db24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175d9d27ac6db241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175d9d27ac6db24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&amp; Technical Roadmap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Custom NMC &amp; LFP Pack Engineering, Field Validation, and Lab Capabilities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Report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NMC EV Battery Pack</a:t>
            </a:r>
            <a:endParaRPr/>
          </a:p>
        </p:txBody>
      </p:sp>
      <p:sp>
        <p:nvSpPr>
          <p:cNvPr id="97" name="Google Shape;97;p15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2351" l="18661" r="20493" t="25753"/>
          <a:stretch/>
        </p:blipFill>
        <p:spPr>
          <a:xfrm>
            <a:off x="311700" y="1073325"/>
            <a:ext cx="2553975" cy="22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467325" y="2641625"/>
            <a:ext cx="29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16S7P: 60V 35Ah - 2.1 kWh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 rotWithShape="1">
          <a:blip r:embed="rId4">
            <a:alphaModFix/>
          </a:blip>
          <a:srcRect b="4895" l="9429" r="12513" t="50682"/>
          <a:stretch/>
        </p:blipFill>
        <p:spPr>
          <a:xfrm>
            <a:off x="6972800" y="3623344"/>
            <a:ext cx="1409625" cy="117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9725" y="2800171"/>
            <a:ext cx="2936750" cy="220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533025" y="886400"/>
            <a:ext cx="28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Pricing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3" name="Google Shape;103;p15"/>
          <p:cNvGrpSpPr/>
          <p:nvPr/>
        </p:nvGrpSpPr>
        <p:grpSpPr>
          <a:xfrm rot="-5400000">
            <a:off x="5653845" y="820415"/>
            <a:ext cx="198900" cy="593656"/>
            <a:chOff x="3918084" y="1610215"/>
            <a:chExt cx="198900" cy="593656"/>
          </a:xfrm>
        </p:grpSpPr>
        <p:cxnSp>
          <p:nvCxnSpPr>
            <p:cNvPr id="104" name="Google Shape;104;p15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" name="Google Shape;105;p15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5"/>
          <p:cNvSpPr txBox="1"/>
          <p:nvPr/>
        </p:nvSpPr>
        <p:spPr>
          <a:xfrm>
            <a:off x="5457725" y="1435475"/>
            <a:ext cx="300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Prototyping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cost: 31,080 /-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Estimated cost: 26,599 /-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311700" y="2943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LFP Solar Battery Pack</a:t>
            </a:r>
            <a:endParaRPr/>
          </a:p>
        </p:txBody>
      </p:sp>
      <p:sp>
        <p:nvSpPr>
          <p:cNvPr id="112" name="Google Shape;112;p16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140700" y="2571750"/>
            <a:ext cx="29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S6P: 12.8V 36Ah - 460 Wh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5533025" y="886400"/>
            <a:ext cx="28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Pricing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5" name="Google Shape;115;p16"/>
          <p:cNvGrpSpPr/>
          <p:nvPr/>
        </p:nvGrpSpPr>
        <p:grpSpPr>
          <a:xfrm rot="-5400000">
            <a:off x="5653845" y="820415"/>
            <a:ext cx="198900" cy="593656"/>
            <a:chOff x="3918084" y="1610215"/>
            <a:chExt cx="198900" cy="593656"/>
          </a:xfrm>
        </p:grpSpPr>
        <p:cxnSp>
          <p:nvCxnSpPr>
            <p:cNvPr id="116" name="Google Shape;116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6"/>
          <p:cNvSpPr txBox="1"/>
          <p:nvPr/>
        </p:nvSpPr>
        <p:spPr>
          <a:xfrm>
            <a:off x="5457725" y="1435475"/>
            <a:ext cx="300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Prototyping cost: 3,949 /-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Estimated cost: 3,800 /-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 b="17862" l="23146" r="12309" t="25597"/>
          <a:stretch/>
        </p:blipFill>
        <p:spPr>
          <a:xfrm>
            <a:off x="127200" y="902176"/>
            <a:ext cx="2246435" cy="262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4">
            <a:alphaModFix/>
          </a:blip>
          <a:srcRect b="22301" l="43624" r="15162" t="18890"/>
          <a:stretch/>
        </p:blipFill>
        <p:spPr>
          <a:xfrm>
            <a:off x="2501226" y="886400"/>
            <a:ext cx="2546176" cy="272482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440800" y="3097975"/>
            <a:ext cx="28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Backup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2" name="Google Shape;122;p16"/>
          <p:cNvGrpSpPr/>
          <p:nvPr/>
        </p:nvGrpSpPr>
        <p:grpSpPr>
          <a:xfrm rot="-5400000">
            <a:off x="5561620" y="3031990"/>
            <a:ext cx="198900" cy="593656"/>
            <a:chOff x="3918084" y="1610215"/>
            <a:chExt cx="198900" cy="593656"/>
          </a:xfrm>
        </p:grpSpPr>
        <p:cxnSp>
          <p:nvCxnSpPr>
            <p:cNvPr id="123" name="Google Shape;123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" name="Google Shape;124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6"/>
          <p:cNvSpPr txBox="1"/>
          <p:nvPr/>
        </p:nvSpPr>
        <p:spPr>
          <a:xfrm>
            <a:off x="5551450" y="34774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Calculated Time: 11 Hrs @ 40W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311700" y="2943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Setup</a:t>
            </a:r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550" y="242863"/>
            <a:ext cx="6210376" cy="4657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Upcoming Projects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 Energy Meter &amp; Logger</a:t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/>
          </a:blip>
          <a:srcRect b="24379" l="6458" r="7201" t="17298"/>
          <a:stretch/>
        </p:blipFill>
        <p:spPr>
          <a:xfrm>
            <a:off x="3811375" y="1017800"/>
            <a:ext cx="2022950" cy="13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4">
            <a:alphaModFix/>
          </a:blip>
          <a:srcRect b="25468" l="14088" r="15226" t="23840"/>
          <a:stretch/>
        </p:blipFill>
        <p:spPr>
          <a:xfrm>
            <a:off x="6131425" y="566288"/>
            <a:ext cx="2700876" cy="19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97" y="2438922"/>
            <a:ext cx="5938601" cy="223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LFP EV Battery Pack</a:t>
            </a:r>
            <a:endParaRPr/>
          </a:p>
        </p:txBody>
      </p:sp>
      <p:sp>
        <p:nvSpPr>
          <p:cNvPr id="150" name="Google Shape;150;p20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88150" y="3167850"/>
            <a:ext cx="29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19S6P: 60V 36Ah - 2.2 kWh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5533025" y="886400"/>
            <a:ext cx="28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Pricing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3" name="Google Shape;153;p20"/>
          <p:cNvGrpSpPr/>
          <p:nvPr/>
        </p:nvGrpSpPr>
        <p:grpSpPr>
          <a:xfrm rot="-5400000">
            <a:off x="5653845" y="820415"/>
            <a:ext cx="198900" cy="593656"/>
            <a:chOff x="3918084" y="1610215"/>
            <a:chExt cx="198900" cy="593656"/>
          </a:xfrm>
        </p:grpSpPr>
        <p:cxnSp>
          <p:nvCxnSpPr>
            <p:cNvPr id="154" name="Google Shape;154;p20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5" name="Google Shape;155;p20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0"/>
          <p:cNvSpPr txBox="1"/>
          <p:nvPr/>
        </p:nvSpPr>
        <p:spPr>
          <a:xfrm>
            <a:off x="5457725" y="1435475"/>
            <a:ext cx="300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Prototyping cost: 23,500 /-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Estimated cost: 23,000 /-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388250" y="3694075"/>
            <a:ext cx="28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Range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8" name="Google Shape;158;p20"/>
          <p:cNvGrpSpPr/>
          <p:nvPr/>
        </p:nvGrpSpPr>
        <p:grpSpPr>
          <a:xfrm rot="-5400000">
            <a:off x="509070" y="3628090"/>
            <a:ext cx="198900" cy="593656"/>
            <a:chOff x="3918084" y="1610215"/>
            <a:chExt cx="198900" cy="593656"/>
          </a:xfrm>
        </p:grpSpPr>
        <p:cxnSp>
          <p:nvCxnSpPr>
            <p:cNvPr id="159" name="Google Shape;159;p20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" name="Google Shape;160;p20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20"/>
          <p:cNvSpPr txBox="1"/>
          <p:nvPr/>
        </p:nvSpPr>
        <p:spPr>
          <a:xfrm>
            <a:off x="498900" y="40735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Calculated Range: 95-100 km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25013" l="0" r="0" t="22581"/>
          <a:stretch/>
        </p:blipFill>
        <p:spPr>
          <a:xfrm>
            <a:off x="388250" y="1216700"/>
            <a:ext cx="3110650" cy="163017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262900" y="2996075"/>
            <a:ext cx="29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19S3P: 60V 18Ah - 1.1 kWh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262900" y="3873275"/>
            <a:ext cx="29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19S3P: 60V 18Ah - 1.1 kWh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0"/>
          <p:cNvSpPr/>
          <p:nvPr/>
        </p:nvSpPr>
        <p:spPr>
          <a:xfrm rot="967767">
            <a:off x="3181923" y="3277267"/>
            <a:ext cx="846626" cy="41566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456475" y="3409975"/>
            <a:ext cx="414300" cy="4155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Semi-Integrated Solar Light</a:t>
            </a:r>
            <a:endParaRPr/>
          </a:p>
        </p:txBody>
      </p:sp>
      <p:sp>
        <p:nvSpPr>
          <p:cNvPr id="172" name="Google Shape;172;p21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statement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5533025" y="886400"/>
            <a:ext cx="28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Pricing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4" name="Google Shape;174;p21"/>
          <p:cNvGrpSpPr/>
          <p:nvPr/>
        </p:nvGrpSpPr>
        <p:grpSpPr>
          <a:xfrm rot="-5400000">
            <a:off x="5653845" y="820415"/>
            <a:ext cx="198900" cy="593656"/>
            <a:chOff x="3918084" y="1610215"/>
            <a:chExt cx="198900" cy="593656"/>
          </a:xfrm>
        </p:grpSpPr>
        <p:cxnSp>
          <p:nvCxnSpPr>
            <p:cNvPr id="175" name="Google Shape;175;p21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" name="Google Shape;176;p21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1"/>
          <p:cNvSpPr txBox="1"/>
          <p:nvPr/>
        </p:nvSpPr>
        <p:spPr>
          <a:xfrm>
            <a:off x="5457725" y="1435475"/>
            <a:ext cx="3000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Prototyping cost: 7,000 /-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Estimated cost: 6,500 /-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17862" l="23146" r="12309" t="25597"/>
          <a:stretch/>
        </p:blipFill>
        <p:spPr>
          <a:xfrm>
            <a:off x="561700" y="966696"/>
            <a:ext cx="1829276" cy="213662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388250" y="3694075"/>
            <a:ext cx="284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Backup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0" name="Google Shape;180;p21"/>
          <p:cNvGrpSpPr/>
          <p:nvPr/>
        </p:nvGrpSpPr>
        <p:grpSpPr>
          <a:xfrm rot="-5400000">
            <a:off x="509070" y="3628090"/>
            <a:ext cx="198900" cy="593656"/>
            <a:chOff x="3918084" y="1610215"/>
            <a:chExt cx="198900" cy="593656"/>
          </a:xfrm>
        </p:grpSpPr>
        <p:cxnSp>
          <p:nvCxnSpPr>
            <p:cNvPr id="181" name="Google Shape;181;p21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21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21"/>
          <p:cNvSpPr txBox="1"/>
          <p:nvPr/>
        </p:nvSpPr>
        <p:spPr>
          <a:xfrm>
            <a:off x="498900" y="40735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Calculated Time: 11 Hrs @ 40W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256850" y="3233550"/>
            <a:ext cx="298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4S6P: 12.8V 36Ah - 460 Wh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8900" y="1017800"/>
            <a:ext cx="1744176" cy="23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 rotWithShape="1">
          <a:blip r:embed="rId5">
            <a:alphaModFix/>
          </a:blip>
          <a:srcRect b="3787" l="20217" r="21046" t="3155"/>
          <a:stretch/>
        </p:blipFill>
        <p:spPr>
          <a:xfrm>
            <a:off x="5533025" y="2571750"/>
            <a:ext cx="2194550" cy="195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255400" y="1565425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Suggested Roadmap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196" name="Google Shape;196;p23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Power Logger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98" name="Google Shape;198;p23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199" name="Google Shape;199;p23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0" name="Google Shape;200;p23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23"/>
          <p:cNvSpPr txBox="1"/>
          <p:nvPr>
            <p:ph idx="4294967295" type="body"/>
          </p:nvPr>
        </p:nvSpPr>
        <p:spPr>
          <a:xfrm>
            <a:off x="318375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Will help to collect Voltage, Current, Power [IN &amp; OUT] data</a:t>
            </a:r>
            <a:endParaRPr sz="1600"/>
          </a:p>
        </p:txBody>
      </p:sp>
      <p:sp>
        <p:nvSpPr>
          <p:cNvPr descr="Background pointer shape in timeline graphic" id="202" name="Google Shape;202;p23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EV LFP 36Ah Pack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204" name="Google Shape;204;p23"/>
          <p:cNvGrpSpPr/>
          <p:nvPr/>
        </p:nvGrpSpPr>
        <p:grpSpPr>
          <a:xfrm>
            <a:off x="2684632" y="2938958"/>
            <a:ext cx="198900" cy="593656"/>
            <a:chOff x="2223534" y="2938958"/>
            <a:chExt cx="198900" cy="593656"/>
          </a:xfrm>
        </p:grpSpPr>
        <p:cxnSp>
          <p:nvCxnSpPr>
            <p:cNvPr id="205" name="Google Shape;205;p23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" name="Google Shape;206;p23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23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Make two packs of 18Ah 60.8V</a:t>
            </a:r>
            <a:endParaRPr sz="1600"/>
          </a:p>
        </p:txBody>
      </p:sp>
      <p:sp>
        <p:nvSpPr>
          <p:cNvPr descr="Background pointer shape in timeline graphic" id="208" name="Google Shape;208;p23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EV Battery pack testing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210" name="Google Shape;210;p23"/>
          <p:cNvGrpSpPr/>
          <p:nvPr/>
        </p:nvGrpSpPr>
        <p:grpSpPr>
          <a:xfrm>
            <a:off x="4319545" y="1610215"/>
            <a:ext cx="198900" cy="593656"/>
            <a:chOff x="3918084" y="1610215"/>
            <a:chExt cx="198900" cy="593656"/>
          </a:xfrm>
        </p:grpSpPr>
        <p:cxnSp>
          <p:nvCxnSpPr>
            <p:cNvPr id="211" name="Google Shape;211;p23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2" name="Google Shape;212;p23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23"/>
          <p:cNvSpPr txBox="1"/>
          <p:nvPr>
            <p:ph idx="4294967295" type="body"/>
          </p:nvPr>
        </p:nvSpPr>
        <p:spPr>
          <a:xfrm>
            <a:off x="3304094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Run a complete range test with Power Logger</a:t>
            </a:r>
            <a:endParaRPr sz="1600"/>
          </a:p>
        </p:txBody>
      </p:sp>
      <p:sp>
        <p:nvSpPr>
          <p:cNvPr descr="Background pointer shape in timeline graphic" id="214" name="Google Shape;214;p23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Solar LFP pack testing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216" name="Google Shape;216;p23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217" name="Google Shape;217;p23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8" name="Google Shape;218;p23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23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Run test for few days with Power Logger data </a:t>
            </a:r>
            <a:endParaRPr sz="1600"/>
          </a:p>
        </p:txBody>
      </p:sp>
      <p:sp>
        <p:nvSpPr>
          <p:cNvPr descr="Background pointer shape in timeline graphic" id="220" name="Google Shape;220;p23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 txBox="1"/>
          <p:nvPr>
            <p:ph idx="4294967295" type="body"/>
          </p:nvPr>
        </p:nvSpPr>
        <p:spPr>
          <a:xfrm>
            <a:off x="7111498" y="2336550"/>
            <a:ext cx="15183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Documentation</a:t>
            </a:r>
            <a:endParaRPr sz="1400">
              <a:solidFill>
                <a:schemeClr val="lt1"/>
              </a:solidFill>
            </a:endParaRPr>
          </a:p>
        </p:txBody>
      </p:sp>
      <p:grpSp>
        <p:nvGrpSpPr>
          <p:cNvPr id="222" name="Google Shape;222;p23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223" name="Google Shape;223;p23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4" name="Google Shape;224;p23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3"/>
          <p:cNvSpPr txBox="1"/>
          <p:nvPr>
            <p:ph idx="4294967295" type="body"/>
          </p:nvPr>
        </p:nvSpPr>
        <p:spPr>
          <a:xfrm>
            <a:off x="6685979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Submit project documentations &amp; SOPs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24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231" name="Google Shape;231;p24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24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24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24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24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24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24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24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24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240" name="Google Shape;240;p24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241" name="Google Shape;241;p24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grpSp>
        <p:nvGrpSpPr>
          <p:cNvPr id="243" name="Google Shape;243;p24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244" name="Google Shape;244;p24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45" name="Google Shape;245;p24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4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4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4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4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24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254" name="Google Shape;254;p24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255" name="Google Shape;255;p24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